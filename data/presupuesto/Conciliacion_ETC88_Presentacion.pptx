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RD$</c:v>
                </c:pt>
              </c:strCache>
            </c:strRef>
          </c:tx>
          <c:spPr>
            <a:solidFill>
              <a:srgbClr val="5B3A29"/>
            </a:solidFill>
          </c:spPr>
          <c:cat>
            <c:strRef>
              <c:f>Sheet1!$A$2:$A$6</c:f>
              <c:strCache>
                <c:ptCount val="5"/>
                <c:pt idx="0">
                  <c:v>Pagos de participantes</c:v>
                </c:pt>
                <c:pt idx="1">
                  <c:v>Donaciones en efectivo</c:v>
                </c:pt>
                <c:pt idx="2">
                  <c:v>Profondo</c:v>
                </c:pt>
                <c:pt idx="3">
                  <c:v>Cuotas del equipo</c:v>
                </c:pt>
                <c:pt idx="4">
                  <c:v>Tardanzas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156800</c:v>
                </c:pt>
                <c:pt idx="1">
                  <c:v>155021</c:v>
                </c:pt>
                <c:pt idx="2">
                  <c:v>135866.4</c:v>
                </c:pt>
                <c:pt idx="3">
                  <c:v>98000</c:v>
                </c:pt>
                <c:pt idx="4">
                  <c:v>6800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Pagado</c:v>
                </c:pt>
              </c:strCache>
            </c:strRef>
          </c:tx>
          <c:spPr>
            <a:solidFill>
              <a:srgbClr val="EF4444"/>
            </a:solidFill>
          </c:spPr>
          <c:cat>
            <c:strRef>
              <c:f>Sheet1!$A$2:$A$11</c:f>
              <c:strCache>
                <c:ptCount val="10"/>
                <c:pt idx="0">
                  <c:v>Casa</c:v>
                </c:pt>
                <c:pt idx="1">
                  <c:v>Transporte</c:v>
                </c:pt>
                <c:pt idx="2">
                  <c:v>Materiales</c:v>
                </c:pt>
                <c:pt idx="3">
                  <c:v>Litúrgico</c:v>
                </c:pt>
                <c:pt idx="4">
                  <c:v>Formación</c:v>
                </c:pt>
                <c:pt idx="5">
                  <c:v>Equipo</c:v>
                </c:pt>
                <c:pt idx="6">
                  <c:v>Guías</c:v>
                </c:pt>
                <c:pt idx="7">
                  <c:v>Música</c:v>
                </c:pt>
                <c:pt idx="8">
                  <c:v>Cocina</c:v>
                </c:pt>
                <c:pt idx="9">
                  <c:v>Eventos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240220</c:v>
                </c:pt>
                <c:pt idx="1">
                  <c:v>45000</c:v>
                </c:pt>
                <c:pt idx="2">
                  <c:v>38325</c:v>
                </c:pt>
                <c:pt idx="3">
                  <c:v>10000</c:v>
                </c:pt>
                <c:pt idx="4">
                  <c:v>33650</c:v>
                </c:pt>
                <c:pt idx="5">
                  <c:v>28800</c:v>
                </c:pt>
                <c:pt idx="6">
                  <c:v>7720</c:v>
                </c:pt>
                <c:pt idx="7">
                  <c:v>9000</c:v>
                </c:pt>
                <c:pt idx="8">
                  <c:v>95489</c:v>
                </c:pt>
                <c:pt idx="9">
                  <c:v>7740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Donado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Sheet1!$A$2:$A$11</c:f>
              <c:strCache>
                <c:ptCount val="10"/>
                <c:pt idx="0">
                  <c:v>Casa</c:v>
                </c:pt>
                <c:pt idx="1">
                  <c:v>Transporte</c:v>
                </c:pt>
                <c:pt idx="2">
                  <c:v>Materiales</c:v>
                </c:pt>
                <c:pt idx="3">
                  <c:v>Litúrgico</c:v>
                </c:pt>
                <c:pt idx="4">
                  <c:v>Formación</c:v>
                </c:pt>
                <c:pt idx="5">
                  <c:v>Equipo</c:v>
                </c:pt>
                <c:pt idx="6">
                  <c:v>Guías</c:v>
                </c:pt>
                <c:pt idx="7">
                  <c:v>Música</c:v>
                </c:pt>
                <c:pt idx="8">
                  <c:v>Cocina</c:v>
                </c:pt>
                <c:pt idx="9">
                  <c:v>Eventos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8720</c:v>
                </c:pt>
                <c:pt idx="1">
                  <c:v>0</c:v>
                </c:pt>
                <c:pt idx="2">
                  <c:v>48600</c:v>
                </c:pt>
                <c:pt idx="3">
                  <c:v>3000</c:v>
                </c:pt>
                <c:pt idx="4">
                  <c:v>0</c:v>
                </c:pt>
                <c:pt idx="5">
                  <c:v>0</c:v>
                </c:pt>
                <c:pt idx="6">
                  <c:v>24950</c:v>
                </c:pt>
                <c:pt idx="7">
                  <c:v>1262</c:v>
                </c:pt>
                <c:pt idx="8">
                  <c:v>14593</c:v>
                </c:pt>
                <c:pt idx="9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7EFD9"/>
                </a:solidFill>
              </a:rPr>
              <a:t>ETC 88 · Conciliación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7EFD9"/>
                </a:solidFill>
              </a:rPr>
              <a:t>Encuentro Total con Cristo #88 · Casa La Ceiba del Salado, Higüey · 4–6 de septiembre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7EFD9"/>
                </a:solidFill>
              </a:rPr>
              <a:t>Co-Dirección: Juan Manuel de la Cruz · Jean Carlo de la Cruz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Cierre al 11-sep-2026 · presupuesto oficial: 11-Ago (596,249.56) · 99 personas en la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Cifras en RD$ · 36 verificaciones numéricas recalculadas (36 PASS) · acompaña al Excel Conciliacion_Final_ETC88.xlsx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EFD9"/>
                </a:solidFill>
              </a:rPr>
              <a:t>En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lo que el Consejo necesita saber antes de abrir el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ETC 88 · Conciliación final · cierre 11-sep-2026 · generado desde datos (scripts/build_conciliacion_pptx.py)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LO QUE COSTÓ EL RETIRO</a:t>
            </a:r>
          </a:p>
          <a:p>
            <a:pPr algn="ctr"/>
            <a:r>
              <a:rPr sz="2200" b="1">
                <a:solidFill>
                  <a:srgbClr val="0B1F3A"/>
                </a:solidFill>
              </a:rPr>
              <a:t>617,069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caja + especie + cortesías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3354" y="164592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LO QUE SALIÓ DE CAJA</a:t>
            </a:r>
          </a:p>
          <a:p>
            <a:pPr algn="ctr"/>
            <a:r>
              <a:rPr sz="2200" b="1">
                <a:solidFill>
                  <a:srgbClr val="EF4444"/>
                </a:solidFill>
              </a:rPr>
              <a:t>515,944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22 gastos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9508" y="164592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LO QUE QUEDÓ EN CUENTAS</a:t>
            </a:r>
          </a:p>
          <a:p>
            <a:pPr algn="ctr"/>
            <a:r>
              <a:rPr sz="2200" b="1">
                <a:solidFill>
                  <a:srgbClr val="10B981"/>
                </a:solidFill>
              </a:rPr>
              <a:t>34,337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balance 36,543.40 − impuestos 2,206.40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944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1E293B"/>
                </a:solidFill>
              </a:rPr>
              <a:t>El retiro costó más de lo presupuestado y salió menos de caja. </a:t>
            </a:r>
            <a:r>
              <a:rPr sz="1600">
                <a:solidFill>
                  <a:srgbClr val="1E293B"/>
                </a:solidFill>
              </a:rPr>
              <a:t>Costó 617,069 (+3.5% sobre el presupuesto oficial); de caja, 515,944 (-13.5%).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E293B"/>
                </a:solidFill>
              </a:rPr>
              <a:t>La diferencia la pusieron otros. </a:t>
            </a:r>
            <a:r>
              <a:rPr sz="1600">
                <a:solidFill>
                  <a:srgbClr val="1E293B"/>
                </a:solidFill>
              </a:rPr>
              <a:t>101,125 (16% del costo) llegaron sin pasar por caja: 30 donantes en especie y la casa en cortesías.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E293B"/>
                </a:solidFill>
              </a:rPr>
              <a:t>Las cuentas cuadran. </a:t>
            </a:r>
            <a:r>
              <a:rPr sz="1600">
                <a:solidFill>
                  <a:srgbClr val="1E293B"/>
                </a:solidFill>
              </a:rPr>
              <a:t>Entradas 552,487.40 − salidas 515,944 = 36,543.40; en el banco hay 34,337; los 2,206.40 de diferencia son impuestos y comisiones.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E293B"/>
                </a:solidFill>
              </a:rPr>
              <a:t>Cada persona costó </a:t>
            </a:r>
            <a:r>
              <a:rPr sz="1600">
                <a:solidFill>
                  <a:srgbClr val="1E293B"/>
                </a:solidFill>
              </a:rPr>
              <a:t>5,212 de caja y 6,233 al costo; el participante pagó 3,500.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EFD9"/>
                </a:solidFill>
              </a:rPr>
              <a:t>Cómo se hizo esta conciliación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el proceso, 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ETC 88 · Conciliación final · cierre 11-sep-2026 · generado desde datos (scripts/build_conciliacion_pptx.py)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400">
                <a:solidFill>
                  <a:srgbClr val="1E293B"/>
                </a:solidFill>
              </a:rPr>
              <a:t>1 · Fuentes. </a:t>
            </a:r>
            <a:r>
              <a:rPr sz="1400">
                <a:solidFill>
                  <a:srgbClr val="1E293B"/>
                </a:solidFill>
              </a:rPr>
              <a:t>Registro de tesorería del tablero de finanzas (22 gastos, 49 donaciones, 8 entregas del profondo), totales del tablero, estado de cuenta al 11-sep, los dos presupuestos (11-Ago y Sistem), la cotización de Iberia, las listas y aclaraciones del director (10 y 11 sep) y la caja de junio del Presupuesto Maestro.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E293B"/>
                </a:solidFill>
              </a:rPr>
              <a:t>2 · Una sola caja. </a:t>
            </a:r>
            <a:r>
              <a:rPr sz="1400">
                <a:solidFill>
                  <a:srgbClr val="1E293B"/>
                </a:solidFill>
              </a:rPr>
              <a:t>El registro de tesorería es la fuente única de lo que entró y salió. Cuadra al peso con el tablero y, tras los impuestos, con el banco.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E293B"/>
                </a:solidFill>
              </a:rPr>
              <a:t>3 · Cruce con el presupuesto. </a:t>
            </a:r>
            <a:r>
              <a:rPr sz="1400">
                <a:solidFill>
                  <a:srgbClr val="1E293B"/>
                </a:solidFill>
              </a:rPr>
              <a:t>Cada gasto se asignó a una partida del presupuesto oficial (11-Ago); el presupuesto por partida cuadra al centavo con el archivo. El pago único a JM de 37,500 se abrió en sus tres conceptos.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E293B"/>
                </a:solidFill>
              </a:rPr>
              <a:t>4 · Lo que no pasó por caja. </a:t>
            </a:r>
            <a:r>
              <a:rPr sz="1400">
                <a:solidFill>
                  <a:srgbClr val="1E293B"/>
                </a:solidFill>
              </a:rPr>
              <a:t>Las donaciones en especie se valoraron a precio de presupuesto (no a factura) y las cortesías de la casa como valor recibido.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E293B"/>
                </a:solidFill>
              </a:rPr>
              <a:t>5 · Lo que costó. </a:t>
            </a:r>
            <a:r>
              <a:rPr sz="1400">
                <a:solidFill>
                  <a:srgbClr val="1E293B"/>
                </a:solidFill>
              </a:rPr>
              <a:t>caja 515,944 + especie 92,405 + cortesías 8,720 = 617,069.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E293B"/>
                </a:solidFill>
              </a:rPr>
              <a:t>6 · Auditoría. </a:t>
            </a:r>
            <a:r>
              <a:rPr sz="1400">
                <a:solidFill>
                  <a:srgbClr val="1E293B"/>
                </a:solidFill>
              </a:rPr>
              <a:t>36 verificaciones se recalculan cada vez que se genera el archivo; 36 pasan y la restante es un dato pendiente, no un error de suma.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E293B"/>
                </a:solidFill>
              </a:rPr>
              <a:t>7 · Nada a mano. </a:t>
            </a:r>
            <a:r>
              <a:rPr sz="1400">
                <a:solidFill>
                  <a:srgbClr val="1E293B"/>
                </a:solidFill>
              </a:rPr>
              <a:t>Excel y presentación salen de un mismo script a partir de los datos; para corregir algo se cambia el dato y se regenera.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EFD9"/>
                </a:solidFill>
              </a:rPr>
              <a:t>Los seis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todo lo demás es detalle de estos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ETC 88 · Conciliación final · cierre 11-sep-2026 · generado desde datos (scripts/build_conciliacion_pptx.py)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5B3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ENTRADAS</a:t>
            </a:r>
          </a:p>
          <a:p>
            <a:pPr algn="ctr"/>
            <a:r>
              <a:rPr sz="2200" b="1">
                <a:solidFill>
                  <a:srgbClr val="5B3A29"/>
                </a:solidFill>
              </a:rPr>
              <a:t>552,487.40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participantes + donaciones + profondo + cuotas + tardanzas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3354" y="164592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SALIDAS DE CAJA</a:t>
            </a:r>
          </a:p>
          <a:p>
            <a:pPr algn="ctr"/>
            <a:r>
              <a:rPr sz="2200" b="1">
                <a:solidFill>
                  <a:srgbClr val="EF4444"/>
                </a:solidFill>
              </a:rPr>
              <a:t>515,944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22 gastos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9508" y="164592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BALANCE → BANCO</a:t>
            </a:r>
          </a:p>
          <a:p>
            <a:pPr algn="ctr"/>
            <a:r>
              <a:rPr sz="2200" b="1">
                <a:solidFill>
                  <a:srgbClr val="0B1F3A"/>
                </a:solidFill>
              </a:rPr>
              <a:t>36,543.40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34,337 en cuentas · 2,206.40 impuestos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COSTO ECONÓMICO</a:t>
            </a:r>
          </a:p>
          <a:p>
            <a:pPr algn="ctr"/>
            <a:r>
              <a:rPr sz="2200" b="1">
                <a:solidFill>
                  <a:srgbClr val="0B1F3A"/>
                </a:solidFill>
              </a:rPr>
              <a:t>617,069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caja + especie (92,405) + cortesías (8,720)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3354" y="338328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RECIBIDO SIN PAGAR</a:t>
            </a:r>
          </a:p>
          <a:p>
            <a:pPr algn="ctr"/>
            <a:r>
              <a:rPr sz="2200" b="1">
                <a:solidFill>
                  <a:srgbClr val="10B981"/>
                </a:solidFill>
              </a:rPr>
              <a:t>101,125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16.4% del costo económico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9508" y="338328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5B3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POR PERSONA (99)</a:t>
            </a:r>
          </a:p>
          <a:p>
            <a:pPr algn="ctr"/>
            <a:r>
              <a:rPr sz="2200" b="1">
                <a:solidFill>
                  <a:srgbClr val="5B3A29"/>
                </a:solidFill>
              </a:rPr>
              <a:t>5,212 / 6,233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de caja / al costo · cuota del participante 3,500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Base para presupuestar el ETC 89: 617,069 en total, 6,233 por persona.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EFD9"/>
                </a:solidFill>
              </a:rPr>
              <a:t>De dónde salió el dinero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entradas 552,487.40 · cinco fuentes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ETC 88 · Conciliación final · cierre 11-sep-2026 · generado desde datos (scripts/build_conciliacion_pptx.py)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554480"/>
          <a:ext cx="66751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06640" y="1737360"/>
          <a:ext cx="4297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7315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EFD9"/>
                          </a:solidFill>
                        </a:rPr>
                        <a:t>Fuente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EFD9"/>
                          </a:solidFill>
                        </a:rPr>
                        <a:t>RD$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EFD9"/>
                          </a:solidFill>
                        </a:rPr>
                        <a:t>%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Pagos de participantes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156,800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28.4%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Donaciones en efectivo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155,021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28.1%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Profondo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135,866.40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24.6%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Cuotas del equipo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98,000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17.7%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Tardanzas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6,800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1.2%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</a:rPr>
                        <a:t>Entradas totales</a:t>
                      </a:r>
                    </a:p>
                  </a:txBody>
                  <a:tcPr marL="64008" marR="64008" marT="27432" marB="27432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E293B"/>
                          </a:solidFill>
                        </a:rPr>
                        <a:t>552,487.40</a:t>
                      </a:r>
                    </a:p>
                  </a:txBody>
                  <a:tcPr marL="64008" marR="64008" marT="27432" marB="27432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64008" marR="64008" marT="27432" marB="27432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4297680"/>
            <a:ext cx="4297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Participantes y donaciones aportaron por igual; el profondo (rifa y venta de helados, en neto) fue la tercera fuente. Las cuotas del equipo cubrieron menos de una quinta parte.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EFD9"/>
                </a:solidFill>
              </a:rPr>
              <a:t>En qué se gastó, por área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pagado de caja vs recibido sin pagar · costo real = pagado + donado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ETC 88 · Conciliación final · cierre 11-sep-2026 · generado desde datos (scripts/build_conciliacion_pptx.py)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69494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1097280"/>
                <a:gridCol w="1097280"/>
                <a:gridCol w="109728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EFD9"/>
                          </a:solidFill>
                        </a:rPr>
                        <a:t>Área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EFD9"/>
                          </a:solidFill>
                        </a:rPr>
                        <a:t>Ppto oficial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EFD9"/>
                          </a:solidFill>
                        </a:rPr>
                        <a:t>Pagado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EFD9"/>
                          </a:solidFill>
                        </a:rPr>
                        <a:t>Donado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EFD9"/>
                          </a:solidFill>
                        </a:rPr>
                        <a:t>Costo real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Casa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236,000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240,220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8,720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248,940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Transporte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45,000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45,000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45,000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Materiales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85,600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38,325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48,600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86,925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Litúrgico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15,000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10,000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3,000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13,000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Formación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28,840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33,650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33,650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Equipo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28,800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28,800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28,800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Guías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24,157.86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7,720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24,950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32,670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Música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10,511.86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9,000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1,262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10,262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Cocina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120,839.84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95,489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14,593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110,082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Eventos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1,500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7,740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E293B"/>
                          </a:solidFill>
                        </a:rPr>
                        <a:t>7,740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</a:rPr>
                        <a:t>Total</a:t>
                      </a:r>
                    </a:p>
                  </a:txBody>
                  <a:tcPr marL="64008" marR="64008" marT="27432" marB="27432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</a:rPr>
                        <a:t>596,249.56</a:t>
                      </a:r>
                    </a:p>
                  </a:txBody>
                  <a:tcPr marL="64008" marR="64008" marT="27432" marB="27432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</a:rPr>
                        <a:t>515,944</a:t>
                      </a:r>
                    </a:p>
                  </a:txBody>
                  <a:tcPr marL="64008" marR="64008" marT="27432" marB="27432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</a:rPr>
                        <a:t>101,125</a:t>
                      </a:r>
                    </a:p>
                  </a:txBody>
                  <a:tcPr marL="64008" marR="64008" marT="27432" marB="27432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93B"/>
                          </a:solidFill>
                        </a:rPr>
                        <a:t>617,069</a:t>
                      </a:r>
                    </a:p>
                  </a:txBody>
                  <a:tcPr marL="64008" marR="64008" marT="27432" marB="27432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589520" y="1463040"/>
          <a:ext cx="429768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064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Costo real = pagado de caja + cubierto sin pagar (donaciones en especie y cortesías de la casa).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EFD9"/>
                </a:solidFill>
              </a:rPr>
              <a:t>La casa, al detalle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Casa La Ceiba del Salado · total pagado 240,220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ETC 88 · Conciliación final · cierre 11-sep-2026 · generado desde datos (scripts/build_conciliacion_pptx.py)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676656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2801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EFD9"/>
                          </a:solidFill>
                        </a:rPr>
                        <a:t>Concepto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EFD9"/>
                          </a:solidFill>
                        </a:rPr>
                        <a:t>RD$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Hospedaje base: 97 personas × 2,360 (vie–dom)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228,920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Noche del jueves (avanzada): 19 personas × 500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9,500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Habitaciones para pequeños grupos: 900 × 2 noches (tarifa inferida)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1,800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= Total pagado (avance 23,600 + final 216,620)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240,220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Cortesía: 8 personas del jueves sin cobro (8 × 500)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4,000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Cortesía: el padre y la sor, vie–dom (2 × 2,360)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4,720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vs presupuesto oficial (236,000)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4,220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vs presupuesto Sistem (200,000)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40,220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55448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Fuimos 99 y se facturaron 97. </a:t>
            </a:r>
            <a:r>
              <a:rPr sz="1300">
                <a:solidFill>
                  <a:srgbClr val="1E293B"/>
                </a:solidFill>
              </a:rPr>
              <a:t>La casa dio dos cortesías: el padre y la sor (el director cedió la suya a la sor).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Llegamos jueves, no viernes. </a:t>
            </a:r>
            <a:r>
              <a:rPr sz="1300">
                <a:solidFill>
                  <a:srgbClr val="1E293B"/>
                </a:solidFill>
              </a:rPr>
              <a:t>27 personas en la avanzada: 19 pagaron 500 y 8 no se cobraron. La comida de esa noche salió de la compra general.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El Sistem quedó corto. </a:t>
            </a:r>
            <a:r>
              <a:rPr sz="1300">
                <a:solidFill>
                  <a:srgbClr val="1E293B"/>
                </a:solidFill>
              </a:rPr>
              <a:t>Nunca actualizó la tarifa a 2,360 ni contempló el jueves; por eso el desvío de 40,220 contra ese presupuesto es aparente.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Contra el oficial </a:t>
            </a:r>
            <a:r>
              <a:rPr sz="1300">
                <a:solidFill>
                  <a:srgbClr val="1E293B"/>
                </a:solidFill>
              </a:rPr>
              <a:t>la casa costó 4,220 más: el jueves y las habitaciones.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EFD9"/>
                </a:solidFill>
              </a:rPr>
              <a:t>Presupuesto oficial vs realidad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11-Ago: 596,249.56 · costo completo con tarifa real de la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ETC 88 · Conciliación final · cierre 11-sep-2026 · generado desde datos (scripts/build_conciliacion_pptx.py)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5B3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PRESUPUESTO OFICIAL</a:t>
            </a:r>
          </a:p>
          <a:p>
            <a:pPr algn="ctr"/>
            <a:r>
              <a:rPr sz="2200" b="1">
                <a:solidFill>
                  <a:srgbClr val="5B3A29"/>
                </a:solidFill>
              </a:rPr>
              <a:t>596,250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lo que se planificó (costo completo)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3354" y="164592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COSTO ECONÓMICO REAL</a:t>
            </a:r>
          </a:p>
          <a:p>
            <a:pPr algn="ctr"/>
            <a:r>
              <a:rPr sz="2200" b="1">
                <a:solidFill>
                  <a:srgbClr val="0B1F3A"/>
                </a:solidFill>
              </a:rPr>
              <a:t>617,069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+20,819 (+3.5%)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9508" y="164592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SALIDAS DE CAJA</a:t>
            </a:r>
          </a:p>
          <a:p>
            <a:pPr algn="ctr"/>
            <a:r>
              <a:rPr sz="2200" b="1">
                <a:solidFill>
                  <a:srgbClr val="10B981"/>
                </a:solidFill>
              </a:rPr>
              <a:t>515,944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-80,306 (-13.5%)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944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E293B"/>
                </a:solidFill>
              </a:rPr>
              <a:t>Por qué valió más: </a:t>
            </a:r>
            <a:r>
              <a:rPr sz="1400">
                <a:solidFill>
                  <a:srgbClr val="1E293B"/>
                </a:solidFill>
              </a:rPr>
              <a:t>la casa (+4,220: jueves y habitaciones), el bizcocho de bienvenida (6,000, no presupuestado), los helados del premio, las biblias (+1,360) y 15,000 de efectivo para imprevistos sin liquidar; a cambio, cocina y ofrendas quedaron por debajo.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293B"/>
                </a:solidFill>
              </a:rPr>
              <a:t>Por qué costó menos: </a:t>
            </a:r>
            <a:r>
              <a:rPr sz="1400">
                <a:solidFill>
                  <a:srgbClr val="1E293B"/>
                </a:solidFill>
              </a:rPr>
              <a:t>92,405 en especie (peces 36,000 de La Vega; guías 24,950; cocina y decoración 24,893; insumos de misa 3,000; oficina 2,300; música 1,262) y 8,720 en cortesías de la casa.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293B"/>
                </a:solidFill>
              </a:rPr>
              <a:t>Lectura para el Consejo: </a:t>
            </a:r>
            <a:r>
              <a:rPr sz="1400">
                <a:solidFill>
                  <a:srgbClr val="1E293B"/>
                </a:solidFill>
              </a:rPr>
              <a:t>el presupuesto oficial fue realista; lo que cambió fue quién pagó cada cosa.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EFD9"/>
                </a:solidFill>
              </a:rPr>
              <a:t>Balance y banco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las cuentas cuadran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ETC 88 · Conciliación final · cierre 11-sep-2026 · generado desde datos (scripts/build_conciliacion_pptx.py)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645920"/>
                <a:gridCol w="57607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EFD9"/>
                          </a:solidFill>
                        </a:rPr>
                        <a:t>Concepto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EFD9"/>
                          </a:solidFill>
                        </a:rPr>
                        <a:t>RD$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EFD9"/>
                          </a:solidFill>
                        </a:rPr>
                        <a:t>Nota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Entradas totales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552,487.40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cinco fuentes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Salidas de caja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515,944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22 gastos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Balance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36,543.40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entradas − salidas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Real en cuentas al 11-sep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34,337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cuenta del director + cuenta de Day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Diferencia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E293B"/>
                          </a:solidFill>
                        </a:rPr>
                        <a:t>2,206.40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impuestos y comisiones bancarias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E293B"/>
                </a:solidFill>
              </a:rPr>
              <a:t>Apoyo total recibido: </a:t>
            </a:r>
            <a:r>
              <a:rPr sz="1400">
                <a:solidFill>
                  <a:srgbClr val="1E293B"/>
                </a:solidFill>
              </a:rPr>
              <a:t>155,021 en efectivo + 92,405 en especie + 8,720 en cortesías = 256,146.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E293B"/>
                </a:solidFill>
              </a:rPr>
              <a:t>Qué hacer con los </a:t>
            </a:r>
            <a:r>
              <a:rPr sz="1400">
                <a:solidFill>
                  <a:srgbClr val="1E293B"/>
                </a:solidFill>
              </a:rPr>
              <a:t>34,337 es decisión de la dirección y del Consejo; esta conciliación no lo asume.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EFD9"/>
                </a:solidFill>
              </a:rPr>
              <a:t>Pendientes y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0 abiertos · 1 notas · el detalle completo está en la hoja 5 del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ETC 88 · Conciliación final · cierre 11-sep-2026 · generado desde datos (scripts/build_conciliacion_pptx.py)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7315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EFD9"/>
                          </a:solidFill>
                        </a:rPr>
                        <a:t>Estado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EFD9"/>
                          </a:solidFill>
                        </a:rPr>
                        <a:t>Tema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EFD9"/>
                          </a:solidFill>
                        </a:rPr>
                        <a:t>Qué falta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NOTA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Una donación sin identificar (1,000)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Dejar constancia en el acta de ese depósito de 1,000 y de que la donación de Yendry Rincón no tiene captura.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EFD9"/>
                </a:solidFill>
              </a:rPr>
              <a:t>Base para el ETC 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el número real sobre el cual presupuestar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ETC 88 · Conciliación final · cierre 11-sep-2026 · generado desde datos (scripts/build_conciliacion_pptx.py)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COSTO REAL 88</a:t>
            </a:r>
          </a:p>
          <a:p>
            <a:pPr algn="ctr"/>
            <a:r>
              <a:rPr sz="2200" b="1">
                <a:solidFill>
                  <a:srgbClr val="0B1F3A"/>
                </a:solidFill>
              </a:rPr>
              <a:t>617,069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6,233 por persona · con todo lo donado valorado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3354" y="164592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BASE RECURRENTE</a:t>
            </a:r>
          </a:p>
          <a:p>
            <a:pPr algn="ctr"/>
            <a:r>
              <a:rPr sz="2200" b="1">
                <a:solidFill>
                  <a:srgbClr val="10B981"/>
                </a:solidFill>
              </a:rPr>
              <a:t>601,069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6,071 por persona · sin desvío ni bizcocho de bienvenida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9508" y="1645920"/>
            <a:ext cx="3624986" cy="1417320"/>
          </a:xfrm>
          <a:prstGeom prst="roundRect">
            <a:avLst/>
          </a:prstGeom>
          <a:solidFill>
            <a:srgbClr val="F7F3EA"/>
          </a:solidFill>
          <a:ln w="19050">
            <a:solidFill>
              <a:srgbClr val="5B3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88888"/>
                </a:solidFill>
              </a:rPr>
              <a:t>LO QUE HUBO QUE FINANCIAR</a:t>
            </a:r>
          </a:p>
          <a:p>
            <a:pPr algn="ctr"/>
            <a:r>
              <a:rPr sz="2200" b="1">
                <a:solidFill>
                  <a:srgbClr val="5B3A29"/>
                </a:solidFill>
              </a:rPr>
              <a:t>515,944</a:t>
            </a:r>
          </a:p>
          <a:p>
            <a:pPr algn="ctr"/>
            <a:r>
              <a:rPr sz="900">
                <a:solidFill>
                  <a:srgbClr val="1E293B"/>
                </a:solidFill>
              </a:rPr>
              <a:t>si el 89 no consigue las mismas donaciones, la cifra sube al costo completo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9441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E293B"/>
                </a:solidFill>
              </a:rPr>
              <a:t>Cómo usar la hoja 4 del Excel: </a:t>
            </a:r>
            <a:r>
              <a:rPr sz="1400">
                <a:solidFill>
                  <a:srgbClr val="1E293B"/>
                </a:solidFill>
              </a:rPr>
              <a:t>cada partida trae su costo real y su tipo. "Por persona" se multiplica por asistentes (casa 2,360; comida ~1,061; biblias 680; peces 600; camisetas 480); "fijo" se cotiza; "puntual" se decide.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293B"/>
                </a:solidFill>
              </a:rPr>
              <a:t>Financiamiento del 88 como referencia: </a:t>
            </a:r>
            <a:r>
              <a:rPr sz="1400">
                <a:solidFill>
                  <a:srgbClr val="1E293B"/>
                </a:solidFill>
              </a:rPr>
              <a:t>Pagos de participantes 28% · Donaciones en efectivo 28% · Profondo 25% · Cuotas del equipo 18% · Tardanzas 1%.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293B"/>
                </a:solidFill>
              </a:rPr>
              <a:t>Lecciones: </a:t>
            </a:r>
            <a:r>
              <a:rPr sz="1400">
                <a:solidFill>
                  <a:srgbClr val="1E293B"/>
                </a:solidFill>
              </a:rPr>
              <a:t>cerrar el presupuesto formalmente (los dos quedaron "Tentativo"); registrar cada donación en especie con su valor al recibirla; registro de tesorería con las mismas categorías que el presupuesto; liquidar los efectivos en 7 días; una línea por concepto.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7EFD9"/>
                </a:solidFill>
              </a:rPr>
              <a:t>Cómo leer el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Conciliacion_Final_ETC88.xlsx · 13 hojas, numeradas en el orden en que conviene leerlas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ETC 88 · Conciliación final · cierre 11-sep-2026 · generado desde datos (scripts/build_conciliacion_pptx.py)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315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EFD9"/>
                          </a:solidFill>
                        </a:rPr>
                        <a:t>Hoja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EFD9"/>
                          </a:solidFill>
                        </a:rPr>
                        <a:t>Qué responde</a:t>
                      </a:r>
                    </a:p>
                  </a:txBody>
                  <a:tcPr marL="64008" marR="64008" marT="27432" marB="27432">
                    <a:solidFill>
                      <a:srgbClr val="5B3A2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0 Resumen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los seis números, tres respuestas, pendientes abiertos e índice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 Caja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entradas por fuente, salidas, balance, banco, apoyo total donado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 Cruce por partida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presupuesto oficial y Sistem → pagado → donado → costo real, por área (filas agrupadas)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 Al costo vs caja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qué vale el retiro y qué nos costó; por persona; la casa al detalle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4 Base ETC 89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costo real por partida y por persona, con el tipo de cada partida para presupuestar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5 Pendientes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una sola lista: abiertos, notas, cerrados e info, con qué falta en cada uno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6 Ppto oficial vs Sistem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los dos presupuestos por área y su desvío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7 Gastos · 8 Donaciones efectivo · 9 Especie · 10 Profondo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los anexos: cada movimiento con su nota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11 Auditoría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36 verificaciones recalculadas al generar el archivo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12 Fuentes y método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de dónde sale cada número y las reglas usadas</a:t>
                      </a:r>
                    </a:p>
                  </a:txBody>
                  <a:tcPr marL="64008" marR="64008" marT="27432" marB="27432"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Cada hoja lleva en su segunda fila una línea "Cómo leer" con lo que significa cada columna.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